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/>
            <a:r>
              <a:rPr sz="2800" b="1">
                <a:solidFill>
                  <a:srgbClr val="004A7D"/>
                </a:solidFill>
                <a:latin typeface="Arial"/>
              </a:rPr>
              <a:t>COGNISHIFT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2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Problem Statement ID – SIH26117</a:t>
            </a:r>
            <a:endParaRPr lang="en-US" dirty="0"/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Problem Statement Title – Sovereign On-Premise Agentic AI Workbench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Theme – Smart Automation / Secure Industrial AI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PS Category – Software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Team ID – 087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Team Name – Den of Devs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143000" y="3886200"/>
            <a:ext cx="3840480" cy="301752"/>
          </a:xfrm>
          <a:prstGeom prst="round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Sovereign Local AI for Confidential Industrial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00000"/>
                </a:solidFill>
                <a:latin typeface="Arial"/>
              </a:rPr>
              <a:t>COGNISHIFT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4A7D"/>
                </a:solidFill>
                <a:latin typeface="Arial"/>
              </a:rPr>
              <a:t>Den of Devs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685800" y="1143000"/>
            <a:ext cx="2011680" cy="292608"/>
          </a:xfrm>
          <a:prstGeom prst="roundRect">
            <a:avLst/>
          </a:prstGeom>
          <a:solidFill>
            <a:srgbClr val="004A7D"/>
          </a:solidFill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85800" y="1481328"/>
            <a:ext cx="3154680" cy="10058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Sensitive work cannot use cloud AI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P&amp;IDs • inspection reports • code • finance • approvals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160520" y="1143000"/>
            <a:ext cx="2011680" cy="292608"/>
          </a:xfrm>
          <a:prstGeom prst="roundRect">
            <a:avLst/>
          </a:prstGeom>
          <a:solidFill>
            <a:srgbClr val="004A7D"/>
          </a:solidFill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OUR SOLUTION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160520" y="1481328"/>
            <a:ext cx="3154680" cy="1005840"/>
          </a:xfrm>
          <a:prstGeom prst="roundRect">
            <a:avLst/>
          </a:prstGeom>
          <a:solidFill>
            <a:srgbClr val="E6F4FF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A local agentic AI workbench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Runs on-premise with open-weight models and zero external dependency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7635240" y="1143000"/>
            <a:ext cx="2011680" cy="292608"/>
          </a:xfrm>
          <a:prstGeom prst="roundRect">
            <a:avLst/>
          </a:prstGeom>
          <a:solidFill>
            <a:srgbClr val="004A7D"/>
          </a:solidFill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WHY UNIQUE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7635240" y="1481328"/>
            <a:ext cx="3154680" cy="10058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Not just chat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RAG + OCR/Vision + Docker + Four-Eyes approval + network proof</a:t>
            </a:r>
          </a:p>
        </p:txBody>
      </p:sp>
      <p:sp>
        <p:nvSpPr>
          <p:cNvPr id="15369" name="Right Arrow 15368"/>
          <p:cNvSpPr/>
          <p:nvPr/>
        </p:nvSpPr>
        <p:spPr>
          <a:xfrm>
            <a:off x="3840480" y="1792224"/>
            <a:ext cx="320040" cy="228600"/>
          </a:xfrm>
          <a:prstGeom prst="rightArrow">
            <a:avLst/>
          </a:prstGeom>
          <a:solidFill>
            <a:srgbClr val="EA7600"/>
          </a:solidFill>
          <a:ln>
            <a:solidFill>
              <a:srgbClr val="EA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ight Arrow 15369"/>
          <p:cNvSpPr/>
          <p:nvPr/>
        </p:nvSpPr>
        <p:spPr>
          <a:xfrm>
            <a:off x="7315200" y="1792224"/>
            <a:ext cx="320040" cy="228600"/>
          </a:xfrm>
          <a:prstGeom prst="rightArrow">
            <a:avLst/>
          </a:prstGeom>
          <a:solidFill>
            <a:srgbClr val="EA7600"/>
          </a:solidFill>
          <a:ln>
            <a:solidFill>
              <a:srgbClr val="EA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685800" y="2743200"/>
            <a:ext cx="978408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04A7D"/>
                </a:solidFill>
                <a:latin typeface="Arial"/>
              </a:defRPr>
            </a:pPr>
            <a:r>
              <a:t>Proposed Solution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Natural-language console for confidential industrial and government knowledge work.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Automatically routes requests: conversation, document Q&amp;A, artifact inspection, code execution, or protected action.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Produces real outputs: approval notes, reports, spreadsheets, code results, and audit evidence.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Works locally on a single workstation/server; cloud egress is blocked and visible.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400">
                <a:solidFill>
                  <a:srgbClr val="000000"/>
                </a:solidFill>
                <a:latin typeface="Georgia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4A7D"/>
                </a:solidFill>
                <a:latin typeface="Arial"/>
              </a:rPr>
              <a:t>Den of Devs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cognishift_workflow_cards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298448"/>
            <a:ext cx="11750040" cy="3142868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822960" y="4800600"/>
            <a:ext cx="3337560" cy="731520"/>
          </a:xfrm>
          <a:prstGeom prst="roundRect">
            <a:avLst/>
          </a:prstGeom>
          <a:solidFill>
            <a:srgbClr val="E7F4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b="1" sz="1200">
                <a:solidFill>
                  <a:srgbClr val="004A78"/>
                </a:solidFill>
              </a:rPr>
              <a:t>1. Route before reasoning</a:t>
            </a:r>
          </a:p>
          <a:p>
            <a:pPr algn="ctr"/>
            <a:r>
              <a:rPr sz="1000">
                <a:solidFill>
                  <a:srgbClr val="1E1E1E"/>
                </a:solidFill>
              </a:rPr>
              <a:t>Conversation, RAG, artifact, code or control action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407408" y="4800600"/>
            <a:ext cx="3337560" cy="731520"/>
          </a:xfrm>
          <a:prstGeom prst="roundRect">
            <a:avLst/>
          </a:prstGeom>
          <a:solidFill>
            <a:srgbClr val="F5F8FB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b="1" sz="1200">
                <a:solidFill>
                  <a:srgbClr val="004A78"/>
                </a:solidFill>
              </a:rPr>
              <a:t>2. Execute locally</a:t>
            </a:r>
          </a:p>
          <a:p>
            <a:pPr algn="ctr"/>
            <a:r>
              <a:rPr sz="1000">
                <a:solidFill>
                  <a:srgbClr val="1E1E1E"/>
                </a:solidFill>
              </a:rPr>
              <a:t>Qwen 2.5 7B, Moondream, OCR, ChromaDB and Docker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991856" y="4800600"/>
            <a:ext cx="3337560" cy="731520"/>
          </a:xfrm>
          <a:prstGeom prst="roundRect">
            <a:avLst/>
          </a:prstGeom>
          <a:solidFill>
            <a:srgbClr val="E7F4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b="1" sz="1200">
                <a:solidFill>
                  <a:srgbClr val="004A78"/>
                </a:solidFill>
              </a:rPr>
              <a:t>3. Govern outputs</a:t>
            </a:r>
          </a:p>
          <a:p>
            <a:pPr algn="ctr"/>
            <a:r>
              <a:rPr sz="1000">
                <a:solidFill>
                  <a:srgbClr val="1E1E1E"/>
                </a:solidFill>
              </a:rPr>
              <a:t>Four-Eyes approval, verified artifacts and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4A7D"/>
                </a:solidFill>
                <a:latin typeface="Arial"/>
              </a:rPr>
              <a:t>Den of Devs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731520" y="1143000"/>
            <a:ext cx="2743200" cy="292608"/>
          </a:xfrm>
          <a:prstGeom prst="roundRect">
            <a:avLst/>
          </a:prstGeom>
          <a:solidFill>
            <a:srgbClr val="004A7D"/>
          </a:solidFill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60520" y="1143000"/>
            <a:ext cx="2743200" cy="292608"/>
          </a:xfrm>
          <a:prstGeom prst="roundRect">
            <a:avLst/>
          </a:prstGeom>
          <a:solidFill>
            <a:srgbClr val="004A7D"/>
          </a:solidFill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RISKS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589520" y="1143000"/>
            <a:ext cx="2743200" cy="292608"/>
          </a:xfrm>
          <a:prstGeom prst="roundRect">
            <a:avLst/>
          </a:prstGeom>
          <a:solidFill>
            <a:srgbClr val="004A7D"/>
          </a:solidFill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MITIGATION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31520" y="1554480"/>
            <a:ext cx="2743200" cy="1188720"/>
          </a:xfrm>
          <a:prstGeom prst="roundRect">
            <a:avLst/>
          </a:prstGeom>
          <a:solidFill>
            <a:srgbClr val="E6F4FF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Runs today on laptop/server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Qwen 2.5 7B local model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OCR, RAG, sandbox and approval tested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160520" y="1554480"/>
            <a:ext cx="2743200" cy="11887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A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Model hallucination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Context leakage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Unsupported actions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Hardware limits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589520" y="1554480"/>
            <a:ext cx="2743200" cy="1188720"/>
          </a:xfrm>
          <a:prstGeom prst="roundRect">
            <a:avLst/>
          </a:prstGeom>
          <a:solidFill>
            <a:srgbClr val="E6F4FF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Semantic routing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Evidence thresholding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Strict tool schemas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Human approval gate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31520" y="3063240"/>
            <a:ext cx="987552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04A7D"/>
                </a:solidFill>
                <a:latin typeface="Arial"/>
              </a:defRPr>
            </a:pPr>
            <a:r>
              <a:t>Viability for SIH prototype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Single-machine deployment demonstrates the same architecture a PSU can move to an internal GPU server.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No vendor lock-in: new open-weight models can be added through model registry and router.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Manual demo is practical: upload document → ask naturally → get grounded answer/artifact → approve risky action.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Offline operation is verifiable through UI ledger and OS-level network controls.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4A7D"/>
                </a:solidFill>
                <a:latin typeface="Arial"/>
              </a:rPr>
              <a:t>Den of Devs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85800" y="1234440"/>
            <a:ext cx="2240280" cy="1188720"/>
          </a:xfrm>
          <a:prstGeom prst="roundRect">
            <a:avLst/>
          </a:prstGeom>
          <a:solidFill>
            <a:srgbClr val="E6F4FF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Confidentiality</a:t>
            </a:r>
          </a:p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Sensitive plant/business data stays inside premises.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0" y="1234440"/>
            <a:ext cx="2240280" cy="11887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Productivity</a:t>
            </a:r>
          </a:p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Routine reports, notes, code and summaries become faster.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715000" y="1234440"/>
            <a:ext cx="2240280" cy="1188720"/>
          </a:xfrm>
          <a:prstGeom prst="roundRect">
            <a:avLst/>
          </a:prstGeom>
          <a:solidFill>
            <a:srgbClr val="E6F4FF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Safety</a:t>
            </a:r>
          </a:p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High-risk actions require Four-Eyes human authorization.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229600" y="1234440"/>
            <a:ext cx="2240280" cy="11887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Auditability</a:t>
            </a:r>
          </a:p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Every run, source, approval and artifact is traceable.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31520" y="2834640"/>
            <a:ext cx="475488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04A7D"/>
                </a:solidFill>
                <a:latin typeface="Arial"/>
              </a:defRPr>
            </a:pPr>
            <a:r>
              <a:t>Target audience impact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Refineries, PSUs, defence-linked manufacturing units and government offices.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Reduces unsafe copying of confidential documents into public AI tools.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Turns static manuals and reports into a controlled local knowledge assistant.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715000" y="2834640"/>
            <a:ext cx="480060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04A7D"/>
                </a:solidFill>
                <a:latin typeface="Arial"/>
              </a:defRPr>
            </a:pPr>
            <a:r>
              <a:t>Benefits of the solution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Economic: saves engineering/admin time in documentation and analysis.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Operational: converts scanned inspection reports into actionable summaries.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Governance: role-based approvals and tamper-aware audit evidence for accountability.</a:t>
            </a:r>
          </a:p>
          <a:p>
            <a:pPr>
              <a:buChar char="•"/>
              <a:defRPr sz="1050">
                <a:solidFill>
                  <a:srgbClr val="000000"/>
                </a:solidFill>
                <a:latin typeface="Arial"/>
              </a:defRPr>
            </a:pPr>
            <a:r>
              <a:t>Practicality: works as a live local console, not only a research benchmark.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400">
                <a:solidFill>
                  <a:srgbClr val="000000"/>
                </a:solidFill>
                <a:latin typeface="Georgia"/>
              </a:rPr>
              <a:t>LIVE DEMO WALKTHROUGH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4A7D"/>
                </a:solidFill>
                <a:latin typeface="Arial"/>
              </a:rPr>
              <a:t>Den of Devs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58368" y="1298448"/>
            <a:ext cx="2240280" cy="1225296"/>
          </a:xfrm>
          <a:prstGeom prst="roundRect">
            <a:avLst/>
          </a:prstGeom>
          <a:solidFill>
            <a:srgbClr val="E7F4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b="1" sz="1300">
                <a:solidFill>
                  <a:srgbClr val="004A78"/>
                </a:solidFill>
              </a:rPr>
              <a:t>1. Ask naturally</a:t>
            </a:r>
          </a:p>
          <a:p>
            <a:pPr algn="ctr"/>
            <a:r>
              <a:rPr sz="1050">
                <a:solidFill>
                  <a:srgbClr val="1E1E1E"/>
                </a:solidFill>
              </a:rPr>
              <a:t>User types a normal request in the local console.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18688" y="1298448"/>
            <a:ext cx="2240280" cy="1225296"/>
          </a:xfrm>
          <a:prstGeom prst="roundRect">
            <a:avLst/>
          </a:prstGeom>
          <a:solidFill>
            <a:srgbClr val="EBF8F0"/>
          </a:solidFill>
          <a:ln w="19050">
            <a:solidFill>
              <a:srgbClr val="19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b="1" sz="1300">
                <a:solidFill>
                  <a:srgbClr val="004A78"/>
                </a:solidFill>
              </a:rPr>
              <a:t>2. Read evidence</a:t>
            </a:r>
          </a:p>
          <a:p>
            <a:pPr algn="ctr"/>
            <a:r>
              <a:rPr sz="1050">
                <a:solidFill>
                  <a:srgbClr val="1E1E1E"/>
                </a:solidFill>
              </a:rPr>
              <a:t>System reads local PDFs, OCR, vision, CSV/XLSX and manuals.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779008" y="1298448"/>
            <a:ext cx="2240280" cy="1225296"/>
          </a:xfrm>
          <a:prstGeom prst="roundRect">
            <a:avLst/>
          </a:prstGeom>
          <a:solidFill>
            <a:srgbClr val="FFF4E6"/>
          </a:solidFill>
          <a:ln w="19050">
            <a:solidFill>
              <a:srgbClr val="F0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b="1" sz="1300">
                <a:solidFill>
                  <a:srgbClr val="004A78"/>
                </a:solidFill>
              </a:rPr>
              <a:t>3. Act safely</a:t>
            </a:r>
          </a:p>
          <a:p>
            <a:pPr algn="ctr"/>
            <a:r>
              <a:rPr sz="1050">
                <a:solidFill>
                  <a:srgbClr val="1E1E1E"/>
                </a:solidFill>
              </a:rPr>
              <a:t>Sandbox code runs; high-risk actions pause for approval.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339327" y="1298448"/>
            <a:ext cx="2240280" cy="1225296"/>
          </a:xfrm>
          <a:prstGeom prst="roundRect">
            <a:avLst/>
          </a:prstGeom>
          <a:solidFill>
            <a:srgbClr val="EEEBFC"/>
          </a:solidFill>
          <a:ln w="19050">
            <a:solidFill>
              <a:srgbClr val="694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b="1" sz="1300">
                <a:solidFill>
                  <a:srgbClr val="004A78"/>
                </a:solidFill>
              </a:rPr>
              <a:t>4. Prove locally</a:t>
            </a:r>
          </a:p>
          <a:p>
            <a:pPr algn="ctr"/>
            <a:r>
              <a:rPr sz="1050">
                <a:solidFill>
                  <a:srgbClr val="1E1E1E"/>
                </a:solidFill>
              </a:rPr>
              <a:t>Artifacts, citations, audit logs and zero-cloud status are shown.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2898648" y="1709928"/>
            <a:ext cx="256032" cy="274320"/>
          </a:xfrm>
          <a:prstGeom prst="rightArrow">
            <a:avLst/>
          </a:prstGeom>
          <a:solidFill>
            <a:srgbClr val="F07D00"/>
          </a:solidFill>
          <a:ln>
            <a:solidFill>
              <a:srgbClr val="F0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ight Arrow 17414"/>
          <p:cNvSpPr/>
          <p:nvPr/>
        </p:nvSpPr>
        <p:spPr>
          <a:xfrm>
            <a:off x="5458968" y="1709928"/>
            <a:ext cx="256032" cy="274320"/>
          </a:xfrm>
          <a:prstGeom prst="rightArrow">
            <a:avLst/>
          </a:prstGeom>
          <a:solidFill>
            <a:srgbClr val="F07D00"/>
          </a:solidFill>
          <a:ln>
            <a:solidFill>
              <a:srgbClr val="F0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ight Arrow 17415"/>
          <p:cNvSpPr/>
          <p:nvPr/>
        </p:nvSpPr>
        <p:spPr>
          <a:xfrm>
            <a:off x="8019288" y="1709928"/>
            <a:ext cx="256032" cy="274320"/>
          </a:xfrm>
          <a:prstGeom prst="rightArrow">
            <a:avLst/>
          </a:prstGeom>
          <a:solidFill>
            <a:srgbClr val="F07D00"/>
          </a:solidFill>
          <a:ln>
            <a:solidFill>
              <a:srgbClr val="F0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822960" y="3090672"/>
            <a:ext cx="48006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600">
                <a:solidFill>
                  <a:srgbClr val="004A78"/>
                </a:solidFill>
              </a:rPr>
              <a:t>What a user will see live</a:t>
            </a:r>
          </a:p>
          <a:p>
            <a:pPr/>
            <a:r>
              <a:rPr sz="1200">
                <a:solidFill>
                  <a:srgbClr val="1E1E1E"/>
                </a:solidFill>
              </a:rPr>
              <a:t>•  Local login as Operator, Supervisor and Administrator.</a:t>
            </a:r>
          </a:p>
          <a:p>
            <a:pPr/>
            <a:r>
              <a:rPr sz="1200">
                <a:solidFill>
                  <a:srgbClr val="1E1E1E"/>
                </a:solidFill>
              </a:rPr>
              <a:t>•  Natural console interaction using Qwen 2.5 7B on-premise.</a:t>
            </a:r>
          </a:p>
          <a:p>
            <a:pPr/>
            <a:r>
              <a:rPr sz="1200">
                <a:solidFill>
                  <a:srgbClr val="1E1E1E"/>
                </a:solidFill>
              </a:rPr>
              <a:t>•  Scanned/ingested document analysis with provenance.</a:t>
            </a:r>
          </a:p>
          <a:p>
            <a:pPr/>
            <a:r>
              <a:rPr sz="1200">
                <a:solidFill>
                  <a:srgbClr val="1E1E1E"/>
                </a:solidFill>
              </a:rPr>
              <a:t>•  Generated DOCX/report artifact with SHA-256 record.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63640" y="3090672"/>
            <a:ext cx="48006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600">
                <a:solidFill>
                  <a:srgbClr val="004A78"/>
                </a:solidFill>
              </a:rPr>
              <a:t>Why this is practical</a:t>
            </a:r>
          </a:p>
          <a:p>
            <a:pPr/>
            <a:r>
              <a:rPr sz="1200">
                <a:solidFill>
                  <a:srgbClr val="1E1E1E"/>
                </a:solidFill>
              </a:rPr>
              <a:t>•  Confidential files never need public AI tools.</a:t>
            </a:r>
          </a:p>
          <a:p>
            <a:pPr/>
            <a:r>
              <a:rPr sz="1200">
                <a:solidFill>
                  <a:srgbClr val="1E1E1E"/>
                </a:solidFill>
              </a:rPr>
              <a:t>•  Routine engineering/admin work becomes faster and auditable.</a:t>
            </a:r>
          </a:p>
          <a:p>
            <a:pPr/>
            <a:r>
              <a:rPr sz="1200">
                <a:solidFill>
                  <a:srgbClr val="1E1E1E"/>
                </a:solidFill>
              </a:rPr>
              <a:t>•  Sensitive actions remain blocked until Four-Eyes approval.</a:t>
            </a:r>
          </a:p>
          <a:p>
            <a:pPr/>
            <a:r>
              <a:rPr sz="1200">
                <a:solidFill>
                  <a:srgbClr val="1E1E1E"/>
                </a:solidFill>
              </a:rPr>
              <a:t>•  Same prototype can move from laptop demo to internal GPU server.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87552" y="5074920"/>
            <a:ext cx="2926080" cy="475488"/>
          </a:xfrm>
          <a:prstGeom prst="roundRect">
            <a:avLst/>
          </a:prstGeom>
          <a:solidFill>
            <a:srgbClr val="0070C0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b="1" sz="1100">
                <a:solidFill>
                  <a:srgbClr val="FFFFFF"/>
                </a:solidFill>
              </a:rPr>
              <a:t>Demo focus</a:t>
            </a:r>
          </a:p>
          <a:p>
            <a:pPr algn="ctr"/>
            <a:r>
              <a:rPr sz="1000">
                <a:solidFill>
                  <a:srgbClr val="1E1E1E"/>
                </a:solidFill>
              </a:rPr>
              <a:t>working system, not video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617720" y="5074920"/>
            <a:ext cx="2926080" cy="475488"/>
          </a:xfrm>
          <a:prstGeom prst="roundRect">
            <a:avLst/>
          </a:prstGeom>
          <a:solidFill>
            <a:srgbClr val="F07D00"/>
          </a:solidFill>
          <a:ln w="19050">
            <a:solidFill>
              <a:srgbClr val="F0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b="1" sz="1100">
                <a:solidFill>
                  <a:srgbClr val="FFFFFF"/>
                </a:solidFill>
              </a:rPr>
              <a:t>Team</a:t>
            </a:r>
          </a:p>
          <a:p>
            <a:pPr algn="ctr"/>
            <a:r>
              <a:rPr sz="1000">
                <a:solidFill>
                  <a:srgbClr val="1E1E1E"/>
                </a:solidFill>
              </a:rPr>
              <a:t>Den of Devs | ID: 087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247888" y="5074920"/>
            <a:ext cx="2926080" cy="475488"/>
          </a:xfrm>
          <a:prstGeom prst="roundRect">
            <a:avLst/>
          </a:prstGeom>
          <a:solidFill>
            <a:srgbClr val="0070C0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b="1" sz="1100">
                <a:solidFill>
                  <a:srgbClr val="FFFFFF"/>
                </a:solidFill>
              </a:rPr>
              <a:t>Final proof</a:t>
            </a:r>
          </a:p>
          <a:p>
            <a:pPr algn="ctr"/>
            <a:r>
              <a:rPr sz="1000">
                <a:solidFill>
                  <a:srgbClr val="1E1E1E"/>
                </a:solidFill>
              </a:rPr>
              <a:t>local console + approvals + artifacts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Harman Gahir</cp:lastModifiedBy>
  <cp:revision>148</cp:revision>
  <dcterms:created xsi:type="dcterms:W3CDTF">2013-12-12T18:46:50Z</dcterms:created>
  <dcterms:modified xsi:type="dcterms:W3CDTF">2026-08-18T06:11:48Z</dcterms:modified>
  <cp:category/>
</cp:coreProperties>
</file>